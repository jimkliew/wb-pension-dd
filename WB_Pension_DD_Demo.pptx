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B913"/>
                </a:solidFill>
              </a:rPr>
              <a:t>⚠  PROTOTYPE  ·  SIMULATION  ·  FOR DEMO PURPOSES ONLY  ⚠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DB9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WBG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1554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DB913"/>
                </a:solidFill>
              </a:rPr>
              <a:t>THE WORLD BANK GROUP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Pension Fund Due Diligence Platform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2743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9FDA"/>
                </a:solidFill>
              </a:rPr>
              <a:t>Multi-Agent Due Diligence for the Highest Standard of Pension Governance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1033272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30-Minute Live Demo · Treasury &amp; Pensions Department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9F0"/>
                </a:solidFill>
              </a:rPr>
              <a:t>May 2026 · Prepared by: Jim Liew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0000"/>
                </a:solidFill>
              </a:rPr>
              <a:t>PROTOTYPE · SIMULATION · NOT AN OFFICIAL WORLD BANK PRODUCT · ALL FUND DATA IS ILLUSTRATIVE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30 Minutes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roadmap. Stop me anytime.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FDB913"/>
          </a:solidFill>
          <a:ln w="19050">
            <a:solidFill>
              <a:srgbClr val="002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FDA"/>
                </a:solidFill>
              </a:rPr>
              <a:t>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The Problem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1874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Why pension DD is broken today and what the WB Group needs to lead.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FDB913"/>
          </a:solidFill>
          <a:ln w="19050">
            <a:solidFill>
              <a:srgbClr val="002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FDA"/>
                </a:solidFill>
              </a:rPr>
              <a:t>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606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The Solution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An agent-driven DD platform purpose-built for pension governance.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FDB913"/>
          </a:solidFill>
          <a:ln w="19050">
            <a:solidFill>
              <a:srgbClr val="0022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FDA"/>
                </a:solidFill>
              </a:rPr>
              <a:t>10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Live Demo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3977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Walk through the prototype — dashboard, agents, fund workspaces, IC flow.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434840"/>
            <a:ext cx="640080" cy="640080"/>
          </a:xfrm>
          <a:prstGeom prst="ellipse">
            <a:avLst/>
          </a:prstGeom>
          <a:solidFill>
            <a:srgbClr val="FDB913"/>
          </a:solidFill>
          <a:ln w="19050">
            <a:solidFill>
              <a:srgbClr val="0022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630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FDA"/>
                </a:solidFill>
              </a:rPr>
              <a:t>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Architecture &amp;amp; Agent Prompts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630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How it's wired together and how each agent reasons.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640080" cy="640080"/>
          </a:xfrm>
          <a:prstGeom prst="ellipse">
            <a:avLst/>
          </a:prstGeom>
          <a:solidFill>
            <a:srgbClr val="FDB913"/>
          </a:solidFill>
          <a:ln w="19050">
            <a:solidFill>
              <a:srgbClr val="0022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486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244"/>
                </a:solidFill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3040" y="5532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FDA"/>
                </a:solidFill>
              </a:rPr>
              <a:t>5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Implementation Path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3040" y="6080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prototype to WB production, then to global standard.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Pension DD Today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inconsistent, and hard to audit at the scale pensions require.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80160"/>
            <a:ext cx="2743200" cy="73152"/>
          </a:xfrm>
          <a:prstGeom prst="rect">
            <a:avLst/>
          </a:prstGeom>
          <a:solidFill>
            <a:srgbClr val="E31A1A"/>
          </a:solidFill>
          <a:ln w="12700">
            <a:solidFill>
              <a:srgbClr val="E3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50+ days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Median manager DD cycle for institutional plans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280160"/>
            <a:ext cx="2743200" cy="73152"/>
          </a:xfrm>
          <a:prstGeom prst="rect">
            <a:avLst/>
          </a:prstGeom>
          <a:solidFill>
            <a:srgbClr val="E31A1A"/>
          </a:solidFill>
          <a:ln w="12700">
            <a:solidFill>
              <a:srgbClr val="E3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23 disciplines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52044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Required for full DD — financial, ops, legal, ESG, climate, governance, liquidity, risk…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2801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280160"/>
            <a:ext cx="2743200" cy="73152"/>
          </a:xfrm>
          <a:prstGeom prst="rect">
            <a:avLst/>
          </a:prstGeom>
          <a:solidFill>
            <a:srgbClr val="E31A1A"/>
          </a:solidFill>
          <a:ln w="12700">
            <a:solidFill>
              <a:srgbClr val="E3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$50T+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4652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Global pension assets, with most lacking a unified DD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1280160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35440" y="1280160"/>
            <a:ext cx="2743200" cy="73152"/>
          </a:xfrm>
          <a:prstGeom prst="rect">
            <a:avLst/>
          </a:prstGeom>
          <a:solidFill>
            <a:srgbClr val="E31A1A"/>
          </a:solidFill>
          <a:ln w="12700">
            <a:solidFill>
              <a:srgbClr val="E3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Fragmented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937260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Documentation: PDFs, spreadsheets, email; no chain-of-custody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B913"/>
                </a:solidFill>
              </a:rPr>
              <a:t>And it's about to get harder.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43484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Climate stress now mandatory in IOPS and OECD frameworks (NGFS scenarios, TCFD/IFRS S2)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Sanctions complexity: OFAC, UN, EU, UK lists update weekly — manual screening doesn't scale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Private markets opacity: alts now ~25% of pension allocations vs ~5% in 2000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Regulatory scrutiny of fiduciary process — every claim must be evidenced and audit-ready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due diligence: ten specialized agents, governed by a single orchestrator, audited end-to-end.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4114800" cy="5120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B913"/>
                </a:solidFill>
              </a:rPr>
              <a:t>78% faster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DD cycle reduced from ~50 days to ~11 days. With higher quality and full citation-grade evidence.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84048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B913"/>
                </a:solidFill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Specialist Agents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B913"/>
                </a:solidFill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Orchestrator + Four-Eyes QA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B913"/>
                </a:solidFill>
              </a:rPr>
              <a:t>100%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Evidence-Cited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B913"/>
                </a:solidFill>
              </a:rPr>
              <a:t>25 yr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Immutable Audit Trail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7040880" cy="96012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188720"/>
            <a:ext cx="73152" cy="960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8016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Specialized Agents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Financial, Operational, Legal &amp; Compliance, ESG, Risk, Liquidity, Governance, Documentation, QA — each with its own model, prompt, and tools.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7040880" cy="96012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40280"/>
            <a:ext cx="73152" cy="960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33172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World Bank Standards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6517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Built around IOPS, OECD, ILPA, UN PRI, TCFD, NGFS, FATF, ISO 27001, SOC 1/2.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7040880" cy="96012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291840"/>
            <a:ext cx="73152" cy="960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38328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Evidence-Native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37033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Every claim cites a primary source. Every document SHA-256 hashed and chained in an immutable audit log.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343400"/>
            <a:ext cx="7040880" cy="96012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343400"/>
            <a:ext cx="73152" cy="960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43484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Four-Eyes Governance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47548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Independent QA Agent re-verifies every fact and metric before any IC recommendation.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5394960"/>
            <a:ext cx="7040880" cy="96012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394960"/>
            <a:ext cx="73152" cy="9601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5486400"/>
            <a:ext cx="6766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Continuous Monitoring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37760" y="58064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Quarterly auto-refresh, real-time alerts (sanctions, adverse media, regulatory).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prototype: index.html. We will follow this 10-minute path.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1887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234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Pipeline KPIs · risk heat map · live agent activity · governance cadence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972800" y="1280160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0" y="12801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901952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9019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1901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DD Pipeline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pipeline.html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19476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Four real funds in DD: Bridgewater · Carlyle · BREIT · Fidelity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0" y="1993392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199339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615184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151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2615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Bridgewater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fund-bridgewater.html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266090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Hedge fund profile · Pure Alpha returns · Sharpe 0.71 · 2 amber flags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0" y="2706624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0" y="2706624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2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28416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2841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33284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Agent Console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agents.html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337413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All 10 agents · system prompts · live activity stream · wiring diagram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72800" y="3419856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3419856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2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041648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41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88720" y="4041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BREIT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88720" y="43342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fund-blackstone.html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40873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Real estate · 3 critical flags · redemption-gate analysis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972800" y="4133088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0" y="4133088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2 min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6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88720" y="47548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Risk Scoring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88720" y="5047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risk.html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80560" y="4800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Composite scoring methodology · stress scenarios · red-flag inventory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972800" y="4846320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0" y="48463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 min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468112"/>
            <a:ext cx="594360" cy="594360"/>
          </a:xfrm>
          <a:prstGeom prst="ellipse">
            <a:avLst/>
          </a:prstGeom>
          <a:solidFill>
            <a:srgbClr val="002244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468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B913"/>
                </a:solidFill>
              </a:rPr>
              <a:t>7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88720" y="5468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Governance / IC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8872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5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governance.html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480560" y="551383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IC calendar · Four-Eyes gates · dissent registry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972800" y="5559552"/>
            <a:ext cx="777240" cy="4114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72800" y="5559552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 min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Set — Four Real Managers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profiles synthesized into a live DD scenario for the WB Staff Retirement Plan.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788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188720"/>
            <a:ext cx="2788920" cy="4572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88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B913"/>
                </a:solidFill>
              </a:rPr>
              <a:t>HEDGE FUND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Bridgewater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Associates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Westport, CT · Founded 1975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224028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</a:rPr>
              <a:t>AUM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244"/>
                </a:solidFill>
              </a:rPr>
              <a:t>$112.5B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20140" y="4297680"/>
            <a:ext cx="1280160" cy="1280160"/>
          </a:xfrm>
          <a:prstGeom prst="ellipse">
            <a:avLst/>
          </a:prstGeom>
          <a:solidFill>
            <a:srgbClr val="F1F5FA"/>
          </a:solidFill>
          <a:ln w="508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0140" y="43434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</a:rPr>
              <a:t>82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120140" y="521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</a:rPr>
              <a:t>DD 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5760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2 flags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188720"/>
            <a:ext cx="2788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188720"/>
            <a:ext cx="2788920" cy="4572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188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B913"/>
                </a:solidFill>
              </a:rPr>
              <a:t>PRIVATE EQUITY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1783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The Carlyle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Group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8328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Washington, DC · Founded 1987 · NASDAQ:CG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3200400"/>
            <a:ext cx="224028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291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</a:rPr>
              <a:t>AUM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35204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244"/>
                </a:solidFill>
              </a:rPr>
              <a:t>$447B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000500" y="4297680"/>
            <a:ext cx="1280160" cy="1280160"/>
          </a:xfrm>
          <a:prstGeom prst="ellipse">
            <a:avLst/>
          </a:prstGeom>
          <a:solidFill>
            <a:srgbClr val="F1F5FA"/>
          </a:solidFill>
          <a:ln w="508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0500" y="43434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</a:rPr>
              <a:t>79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4000500" y="521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</a:rPr>
              <a:t>DD 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46120" y="5760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1 flags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188720"/>
            <a:ext cx="2788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188720"/>
            <a:ext cx="2788920" cy="4572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1188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B913"/>
                </a:solidFill>
              </a:rPr>
              <a:t>REAL ESTATE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783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Blackstone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REIT (BREIT)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26364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Sponsor: NYSE:BX · Launched 2017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3200400"/>
            <a:ext cx="224028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291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</a:rPr>
              <a:t>AUM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35204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244"/>
                </a:solidFill>
              </a:rPr>
              <a:t>$58B NAV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880860" y="4297680"/>
            <a:ext cx="1280160" cy="1280160"/>
          </a:xfrm>
          <a:prstGeom prst="ellipse">
            <a:avLst/>
          </a:prstGeom>
          <a:solidFill>
            <a:srgbClr val="F1F5FA"/>
          </a:solidFill>
          <a:ln w="50800">
            <a:solidFill>
              <a:srgbClr val="F57C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80860" y="43434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7C00"/>
                </a:solidFill>
              </a:rPr>
              <a:t>71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6880860" y="521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</a:rPr>
              <a:t>DD Score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5760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3 flags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06840" y="1188720"/>
            <a:ext cx="27889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006840" y="1188720"/>
            <a:ext cx="2788920" cy="45720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06840" y="11887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B913"/>
                </a:solidFill>
              </a:rPr>
              <a:t>MONEY MANAGER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44000" y="1783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Fidelity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2244"/>
                </a:solidFill>
              </a:rPr>
              <a:t>Investments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144000" y="2697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Boston, MA · Founded 1946 · FMR LLC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81160" y="3200400"/>
            <a:ext cx="224028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06840" y="32918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7280"/>
                </a:solidFill>
              </a:rPr>
              <a:t>AUM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06840" y="35204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244"/>
                </a:solidFill>
              </a:rPr>
              <a:t>$5.3T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9761220" y="4297680"/>
            <a:ext cx="1280160" cy="1280160"/>
          </a:xfrm>
          <a:prstGeom prst="ellipse">
            <a:avLst/>
          </a:prstGeom>
          <a:solidFill>
            <a:srgbClr val="F1F5FA"/>
          </a:solidFill>
          <a:ln w="508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61220" y="43434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</a:rPr>
              <a:t>88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9761220" y="5212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</a:rPr>
              <a:t>DD Score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006840" y="5760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7C00"/>
                </a:solidFill>
              </a:rPr>
              <a:t>1 flags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coordinates 9 specialized sub-agents + 1 QA Agent. All actions logged. Five human gates.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280160"/>
            <a:ext cx="2286000" cy="914400"/>
          </a:xfrm>
          <a:prstGeom prst="rect">
            <a:avLst/>
          </a:prstGeom>
          <a:solidFill>
            <a:srgbClr val="FDB913"/>
          </a:solidFill>
          <a:ln w="25400">
            <a:solidFill>
              <a:srgbClr val="0022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244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2244"/>
                </a:solidFill>
              </a:rPr>
              <a:t>Plan · Route · Aggregate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244"/>
                </a:solidFill>
              </a:rPr>
              <a:t>Claude Opus 4.6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71600"/>
            <a:ext cx="1828800" cy="7315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Investment Officer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DB913"/>
                </a:solidFill>
              </a:rPr>
              <a:t>DD scope · documents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94560" y="1737360"/>
            <a:ext cx="2743200" cy="0"/>
          </a:xfrm>
          <a:prstGeom prst="line">
            <a:avLst/>
          </a:prstGeom>
          <a:noFill/>
          <a:ln w="25400">
            <a:solidFill>
              <a:srgbClr val="0A5F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solidFill>
            <a:srgbClr val="F1F5F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</a:rPr>
              <a:t>Document Vault (RAG)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1691640"/>
            <a:ext cx="4206240" cy="365760"/>
          </a:xfrm>
          <a:prstGeom prst="rect">
            <a:avLst/>
          </a:prstGeom>
          <a:solidFill>
            <a:srgbClr val="F1F5F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</a:rPr>
              <a:t>Plan / Memory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2103120"/>
            <a:ext cx="4206240" cy="365760"/>
          </a:xfrm>
          <a:prstGeom prst="rect">
            <a:avLst/>
          </a:prstGeom>
          <a:solidFill>
            <a:srgbClr val="F1F5F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</a:rPr>
              <a:t>Audit Log (immutable)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91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Intake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29184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291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Financial DD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291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Operational DD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329184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3291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Legal &amp; Comp.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329184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32918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ESG &amp; Climate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60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97480" y="416052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4160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0" y="416052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160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Liquidity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60920" y="4160520"/>
            <a:ext cx="2240280" cy="777240"/>
          </a:xfrm>
          <a:prstGeom prst="rect">
            <a:avLst/>
          </a:prstGeom>
          <a:solidFill>
            <a:srgbClr val="0A5FA0"/>
          </a:solidFill>
          <a:ln w="12700">
            <a:solidFill>
              <a:srgbClr val="0A5F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60920" y="4160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2640" y="4160520"/>
            <a:ext cx="224028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41605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QA / Review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80760" y="2194560"/>
            <a:ext cx="-4594860" cy="1097280"/>
          </a:xfrm>
          <a:prstGeom prst="line">
            <a:avLst/>
          </a:prstGeom>
          <a:noFill/>
          <a:ln w="12700">
            <a:solidFill>
              <a:srgbClr val="FDB913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80760" y="2194560"/>
            <a:ext cx="-2263140" cy="1097280"/>
          </a:xfrm>
          <a:prstGeom prst="line">
            <a:avLst/>
          </a:prstGeom>
          <a:noFill/>
          <a:ln w="12700">
            <a:solidFill>
              <a:srgbClr val="FDB91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080760" y="2194560"/>
            <a:ext cx="68580" cy="1097280"/>
          </a:xfrm>
          <a:prstGeom prst="line">
            <a:avLst/>
          </a:prstGeom>
          <a:noFill/>
          <a:ln w="12700">
            <a:solidFill>
              <a:srgbClr val="FDB91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80760" y="2194560"/>
            <a:ext cx="2400300" cy="1097280"/>
          </a:xfrm>
          <a:prstGeom prst="line">
            <a:avLst/>
          </a:prstGeom>
          <a:noFill/>
          <a:ln w="12700">
            <a:solidFill>
              <a:srgbClr val="FDB91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080760" y="2194560"/>
            <a:ext cx="4732020" cy="1097280"/>
          </a:xfrm>
          <a:prstGeom prst="line">
            <a:avLst/>
          </a:prstGeom>
          <a:noFill/>
          <a:ln w="12700">
            <a:solidFill>
              <a:srgbClr val="FDB91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528523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DB913"/>
                </a:solidFill>
              </a:rPr>
              <a:t>DELIVERABLES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DD Memo  ·  Composite Risk Score  ·  Red-Flag Log  ·  IC Pre-Read  ·  Side-Letter Issue Tracker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65760" y="598932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E9F0"/>
                </a:solidFill>
              </a:rPr>
              <a:t>Generated as PDF/DOCX · Cryptographically signed · Logged to immutable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Prompts — A Look Inside (1/2)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constrained, role-specific system prompt. Here are three of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3794760" cy="512064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88720"/>
            <a:ext cx="3794760" cy="548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88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Orchestrator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913"/>
                </a:solidFill>
              </a:rPr>
              <a:t>Opus 4.6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34290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Orchestrator for the World Bank Pension DD Platform.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fabricate. If a fact has no cited source, state "evidence not found".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log every dispatch to the audit trail.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Four-Eyes Principle — defer to QA Agent before finalizing.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IOPS, OECD, ILPA where applicable.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single Markdown DD memo with: Summary · Score · Findings · Red Flags · IC Recommendation.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188720"/>
            <a:ext cx="3794760" cy="512064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188720"/>
            <a:ext cx="3794760" cy="548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188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Legal &amp; 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1463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913"/>
                </a:solidFill>
              </a:rPr>
              <a:t>Sonnet 4.6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1828800"/>
            <a:ext cx="34290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Legal &amp; Compliance Agent.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CHECKS for every named principal: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OFAC SDN  2. UN sanctions  3. EU sanctions  4. UK HMT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PEP screening (5-yr adverse media)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Form ADV Item 11 (disciplinary)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Court-record search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IMMEDIATELY for any sanctions match, felony, pending SEC enforcement, or material adverse media.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decision is "no go" if any zero-tolerance flag triggers.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188720"/>
            <a:ext cx="3794760" cy="512064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188720"/>
            <a:ext cx="3794760" cy="548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188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QA / Review (Four-Eyes)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1463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913"/>
                </a:solidFill>
              </a:rPr>
              <a:t>Opus 4.6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1828800"/>
            <a:ext cx="34290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QA / Review Agent. You DO NOT do original analysis.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Verify every cited fact against the underlying document.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Re-derive every quantitative metric independently.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Stress-test every assumption.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the "Top 5 Reasons This Goes Wrong" exercise.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only when citations verified, metrics reconciled to ≤ 1bp / 0.5%, and assumptions documented.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sign-off is a hard governance gate.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Prompts — A Look Inside (2/2)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agents and the standard tool/data wiring used across all of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3794760" cy="512064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188720"/>
            <a:ext cx="3794760" cy="548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88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913"/>
                </a:solidFill>
              </a:rPr>
              <a:t>Opus 4.6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34290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Risk Agent.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MANDATE: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Market risk: VaR(95%, 99%, 1d) · realized vol · max drawdown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Concentration: top-10 · top sector · top issuer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Liquidity: days-to-liquidate at 25% ADV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Counterparty: aggregated PB/broker exposure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Stress: 2008 GFC · 2020 COVID · 2022 rates · 3 NGFS climate paths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1–5. Flag any score ≤ 2.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substitute model for stated mandate constraints — escalate breaches.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188720"/>
            <a:ext cx="3794760" cy="512064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188720"/>
            <a:ext cx="3794760" cy="548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188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ESG &amp; Climate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14630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DB913"/>
                </a:solidFill>
              </a:rPr>
              <a:t>Sonnet 4.6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1828800"/>
            <a:ext cx="34290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ESG Agent.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alignment (UN PRI, TCFD, EDCI, GRESB, SFDR)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Climate stress under NGFS Net Zero / Delayed / Hot House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Stewardship: voting + engagement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Coverage: % portfolio with Scope 1+2+3 emissions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STANDARDS: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1+2 ≥ 80% by 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3 ≥ 60% by 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Climate transition plan required for high-emitting sectors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188720"/>
            <a:ext cx="3657600" cy="5120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B913"/>
                </a:solidFill>
              </a:rPr>
              <a:t>TOOLS WIRED TO AGENTS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75320" y="1783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SEC EDGAR (Form ADV, 10-K, 10-Q)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21671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OFAC SDN · UN · EU · UK lists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75320" y="25511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LexisNexis Bridger / World-Check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29352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Cambridge Associates · HFRI · NCREIF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3319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Bloomberg · MSCI · Sustainalytics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3703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UN PRI · GRESB · EDCI · TCFD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4087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NGFS climate scenarios v5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44714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BarraOne / Axioma analytics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75320" y="485546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Document Vault (vector RAG)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75320" y="5239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Audit Log (Merkle-chained)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5623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● Human-in-Loop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Standards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highest pension fund frameworks. Designed to become the global standard.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2244"/>
                </a:solidFill>
              </a:rPr>
              <a:t>Frameworks Operationalized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60020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459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IOPS Principles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9293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Pension supervision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60020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459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OECD Core Principles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9293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Pension regulation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3172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3774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ILPA Principles 3.0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6609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LP/GP alignment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33172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3774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ILPA DDQ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6609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Standardized DDQ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6324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08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UN PRI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3924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Responsible investment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06324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06324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1089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TCFD / IFRS S2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3924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Climate disclosure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79476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404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NGFS Scenarios v5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1239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Climate stress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79476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379476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8404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SFDR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41239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EU sustainability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52628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52628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572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EDCI / GRESB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855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Private markets ESG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452628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46120" y="452628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4572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FATF / OFAC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383280" y="48554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AML / sanctions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525780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525780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3035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SOC 1/2 / SSAE 18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5586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Service-org controls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46120" y="5257800"/>
            <a:ext cx="2788920" cy="6400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46120" y="5257800"/>
            <a:ext cx="45720" cy="6400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53035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ISO 27001 / NIST CSF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83280" y="5586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Cybersecurity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00800" y="1188720"/>
            <a:ext cx="5394960" cy="5120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13258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DB913"/>
                </a:solidFill>
              </a:rPr>
              <a:t>THE TEN PILLARS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537960" y="1664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Proposed World Bank Standard for Global Pension Funds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2940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Multi-Agent Independence (≥7 functions)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629400" y="2450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Four-Eyes QA Principle (mandatory)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629400" y="2843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Evidence-Based — every claim cited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629400" y="3236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Immutable 25-yr Audit Trail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629400" y="36301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Sanctions Zero-Tolerance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6294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Independent Valuation ≥ 90% of NAV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629400" y="4416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Liquidity Stress at 200% historical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629400" y="48097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Climate Stress Disclosure (NGFS, TCFD)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629400" y="52029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Governance Documentation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629400" y="55961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10. Continuous Monitoring (24/7)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WB production to global standard — 24 months.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2286000" cy="2834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280160"/>
            <a:ext cx="2286000" cy="36576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2244"/>
                </a:solidFill>
              </a:rPr>
              <a:t>Phase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913"/>
                </a:solidFill>
              </a:rPr>
              <a:t>Mo 0–3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9F0"/>
                </a:solidFill>
              </a:rPr>
              <a:t>Requirements · regulatory mapping · vendor short-list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1280160"/>
            <a:ext cx="2286000" cy="2834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280160"/>
            <a:ext cx="2286000" cy="36576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2244"/>
                </a:solidFill>
              </a:rPr>
              <a:t>Phase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913"/>
                </a:solidFill>
              </a:rPr>
              <a:t>Mo 3–9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Pilot — 3 GPs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2606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9F0"/>
                </a:solidFill>
              </a:rPr>
              <a:t>End-to-end run · validate vs human DD · build connectors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280160"/>
            <a:ext cx="2286000" cy="2834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280160"/>
            <a:ext cx="2286000" cy="36576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2244"/>
                </a:solidFill>
              </a:rPr>
              <a:t>Phase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913"/>
                </a:solidFill>
              </a:rPr>
              <a:t>Mo 9–15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606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9F0"/>
                </a:solidFill>
              </a:rPr>
              <a:t>Full DD pipeline · ServiceNow · SSO · IC integration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1280160"/>
            <a:ext cx="2286000" cy="2834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280160"/>
            <a:ext cx="2286000" cy="36576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2244"/>
                </a:solidFill>
              </a:rPr>
              <a:t>Phase 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913"/>
                </a:solidFill>
              </a:rPr>
              <a:t>Mo 15–21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Continuous Monitoring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2606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9F0"/>
                </a:solidFill>
              </a:rPr>
              <a:t>23 GPs migrated · alert tuning · annual review automation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75520" y="1280160"/>
            <a:ext cx="2286000" cy="283464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75520" y="1280160"/>
            <a:ext cx="2286000" cy="36576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2244"/>
                </a:solidFill>
              </a:rPr>
              <a:t>Phase 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B913"/>
                </a:solidFill>
              </a:rPr>
              <a:t>Mo 21+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755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Standard Adoption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66960" y="26060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9F0"/>
                </a:solidFill>
              </a:rPr>
              <a:t>IOPS / OECD WPPP endorsement · TA programs to client countries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297680"/>
            <a:ext cx="5715000" cy="2011680"/>
          </a:xfrm>
          <a:prstGeom prst="rect">
            <a:avLst/>
          </a:prstGeom>
          <a:solidFill>
            <a:srgbClr val="F1F5F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389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</a:rPr>
              <a:t>Indicative Investment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4709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Year 1 (build):  </a:t>
            </a:r>
            <a:pPr indent="0" marL="0">
              <a:buNone/>
            </a:pPr>
            <a:r>
              <a:rPr lang="en-US" sz="1100" b="1" dirty="0">
                <a:solidFill>
                  <a:srgbClr val="0A5FA0"/>
                </a:solidFill>
              </a:rPr>
              <a:t>$8.2M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Year 2 (run):    </a:t>
            </a:r>
            <a:pPr indent="0" marL="0">
              <a:buNone/>
            </a:pPr>
            <a:r>
              <a:rPr lang="en-US" sz="1100" b="1" dirty="0">
                <a:solidFill>
                  <a:srgbClr val="0A5FA0"/>
                </a:solidFill>
              </a:rPr>
              <a:t>$4.5M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Cloud · LLM · data subscriptions · integrator · 3 FTE · security audits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4297680"/>
            <a:ext cx="5532120" cy="201168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389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</a:rPr>
              <a:t>Expected Benefits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0" y="470916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−78% cycle time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3× more managers screened per FTE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100% citation-grade evidence on every claim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2244"/>
                </a:solidFill>
              </a:rPr>
              <a:t>1 unified standard across all asset classes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61520" cy="65836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59536"/>
            <a:ext cx="12161520" cy="45720"/>
          </a:xfrm>
          <a:prstGeom prst="rect">
            <a:avLst/>
          </a:prstGeom>
          <a:solidFill>
            <a:srgbClr val="009FDA"/>
          </a:solidFill>
          <a:ln w="12700">
            <a:solidFill>
              <a:srgbClr val="009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68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&amp;amp; Mitigations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566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designed for the obvious failure modes.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0" y="29260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0" y="3474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WBG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30000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7772400"/>
              </a:tblGrid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LLM hallucination / fabricated facts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Mandatory citation guardrail in every prompt; QA Agent re-verifies; uncited claims rejected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Data privacy / IP exposure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Private VPC; no data leaves WB perimeter; encryption at rest and in transit; PII redaction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Model drift / version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Frozen model versions per release; A/B tested on historical DD memos; quarterly re-validation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Over-reliance / automation bias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5 human gates: sub-agent sign-off · QA · Legal · CIO · IC. Humans always own the decision.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Regulatory questioning of AI use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Full audit log; transparent agent prompts; explainable outputs; supervisor sign-off retained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Vendor lock-in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2244"/>
                          </a:solidFill>
                        </a:rPr>
                        <a:t>Multi-model architecture; standardized prompt schema; portable evidence vault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11430000" cy="6035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DB9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DB913"/>
                </a:solidFill>
              </a:rPr>
              <a:t>NEXT STEPS — FROM PROTOTYPE TO STANDARD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FDB913"/>
          </a:solidFill>
          <a:ln w="25400">
            <a:solidFill>
              <a:srgbClr val="002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244"/>
                </a:solidFill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1417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</a:rPr>
              <a:t>Approve a 90-day Discovery Sprint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Treasury + Pensions + Risk + IT. Validate scope, security, integration design.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Deliverable: Business Requirements Document + Risk &amp; Governance Charter.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31520" cy="731520"/>
          </a:xfrm>
          <a:prstGeom prst="ellipse">
            <a:avLst/>
          </a:prstGeom>
          <a:solidFill>
            <a:srgbClr val="FDB913"/>
          </a:solidFill>
          <a:ln w="25400">
            <a:solidFill>
              <a:srgbClr val="00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244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29260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</a:rPr>
              <a:t>Pilot — 3 GPs in Q3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32918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Run platform end-to-end on 3 new commitments. Compare to human DD baseline.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Validate at IC. Iterate. Build connector library.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731520" cy="731520"/>
          </a:xfrm>
          <a:prstGeom prst="ellipse">
            <a:avLst/>
          </a:prstGeom>
          <a:solidFill>
            <a:srgbClr val="FDB913"/>
          </a:solidFill>
          <a:ln w="25400">
            <a:solidFill>
              <a:srgbClr val="0022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89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2244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91640" y="4434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</a:rPr>
              <a:t>Production + Standard Push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8006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Roll to full DD pipeline (Mo 9–15). Migrate 23 existing GPs to monitoring (Mo 15–21).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Then: take to IOPS, OECD WPPP, IFSWF — propose adoption as global standard.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244"/>
                </a:solidFill>
              </a:rPr>
              <a:t>Make this the World Bank Standard for global pension fund due diligence.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DB9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 ·  SIMULATION  ·  FOR DEMO PURPOSES ONLY  ·  NOT AN OFFICIAL WORLD BANK SYSTEM  ·  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Pension Fund DD Platform · Prototype · May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49240" y="1188720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DB9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9240" y="1188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244"/>
                </a:solidFill>
              </a:rPr>
              <a:t>WBG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DB913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0" y="4572000"/>
            <a:ext cx="3017520" cy="36576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Jim Liew · Senior Investment Officer (prototype)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9FDA"/>
                </a:solidFill>
              </a:rPr>
              <a:t>jim@sokat.com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FDB913"/>
          </a:solidFill>
          <a:ln w="12700">
            <a:solidFill>
              <a:srgbClr val="FDB9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2244"/>
                </a:solidFill>
              </a:rPr>
              <a:t>PROTOTYPE · SIMULATION · FOR DEMO PURPOSES ONLY · NOT AN OFFICIAL WORLD BANK PRODUCT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World Bank Group (Prototype)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Bank Pension Fund DD Platform — Prototype</dc:title>
  <dc:subject>PptxGenJS Presentation</dc:subject>
  <dc:creator>Jim Liew</dc:creator>
  <cp:lastModifiedBy>Jim Liew</cp:lastModifiedBy>
  <cp:revision>1</cp:revision>
  <dcterms:created xsi:type="dcterms:W3CDTF">2026-05-05T13:07:08Z</dcterms:created>
  <dcterms:modified xsi:type="dcterms:W3CDTF">2026-05-05T13:07:08Z</dcterms:modified>
</cp:coreProperties>
</file>